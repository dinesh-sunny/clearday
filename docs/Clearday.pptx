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7620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FFFFFF"/>
                </a:solidFill>
                <a:latin typeface="Helvetica Neue"/>
              </a:rPr>
              <a:t>SEAPOINT FINOPS HACKATHON · 20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95500"/>
            <a:ext cx="9525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0"/>
              </a:spcAft>
            </a:pPr>
            <a:r>
              <a:rPr sz="12000" i="0" b="0">
                <a:solidFill>
                  <a:srgbClr val="FFFFFF"/>
                </a:solidFill>
                <a:latin typeface="Georgia"/>
              </a:rPr>
              <a:t>Clearday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937000"/>
            <a:ext cx="889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</a:pPr>
            <a:r>
              <a:rPr sz="3400" i="1" b="0">
                <a:solidFill>
                  <a:srgbClr val="FFFFFF"/>
                </a:solidFill>
                <a:latin typeface="Georgia"/>
              </a:rPr>
              <a:t>A calm finance agent. You approve every money move.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5715000"/>
            <a:ext cx="762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i="0" b="0">
                <a:solidFill>
                  <a:srgbClr val="FFFFFF"/>
                </a:solidFill>
                <a:latin typeface="Helvetica Neue"/>
              </a:rPr>
              <a:t>Dinesh Sunny  ·  github.com/Dinesh-Sunny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70000"/>
            <a:ext cx="10160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</a:pPr>
            <a:r>
              <a:rPr sz="6000" i="0" b="0">
                <a:solidFill>
                  <a:srgbClr val="1D2433"/>
                </a:solidFill>
                <a:latin typeface="Georgia"/>
              </a:rPr>
              <a:t>Eight finance jobs.</a:t>
            </a:r>
          </a:p>
          <a:p>
            <a:pPr>
              <a:spcAft>
                <a:spcPts val="3000"/>
              </a:spcAft>
            </a:pPr>
            <a:r>
              <a:rPr sz="6000" i="0" b="0">
                <a:solidFill>
                  <a:srgbClr val="1D2433"/>
                </a:solidFill>
                <a:latin typeface="Georgia"/>
              </a:rPr>
              <a:t>One tired founder.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41910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44323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Close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1910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9500" y="44323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Reconcile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0" y="41910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6500" y="44323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Bills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0" y="41910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3500" y="44323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Receivables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51435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" y="53848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Cash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51435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9500" y="53848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Board pack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0" y="51435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6500" y="53848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Multi-entity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63000" y="5143500"/>
            <a:ext cx="2476500" cy="76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500" y="5384800"/>
            <a:ext cx="2159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444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70000"/>
            <a:ext cx="104775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</a:pPr>
            <a:r>
              <a:rPr sz="5200" i="0" b="0">
                <a:solidFill>
                  <a:srgbClr val="1D2433"/>
                </a:solidFill>
                <a:latin typeface="Georgia"/>
              </a:rPr>
              <a:t>One ranked list. Agents work. You say yes.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3048000"/>
            <a:ext cx="250825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7900" y="3238500"/>
            <a:ext cx="1905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</a:pPr>
            <a:r>
              <a:rPr sz="5400" i="0" b="0">
                <a:solidFill>
                  <a:srgbClr val="2F6DB5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900" y="4191000"/>
            <a:ext cx="2095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1">
                <a:solidFill>
                  <a:srgbClr val="1D2433"/>
                </a:solidFill>
                <a:latin typeface="Helvetica Neue"/>
              </a:rPr>
              <a:t>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4699000"/>
            <a:ext cx="2095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i="0" b="0">
                <a:solidFill>
                  <a:srgbClr val="5F687A"/>
                </a:solidFill>
                <a:latin typeface="Helvetica Neue"/>
              </a:rPr>
              <a:t>8 checks over UK + IE books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0750" y="3048000"/>
            <a:ext cx="250825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6650" y="3238500"/>
            <a:ext cx="1905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</a:pPr>
            <a:r>
              <a:rPr sz="5400" i="0" b="0">
                <a:solidFill>
                  <a:srgbClr val="2F6DB5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4191000"/>
            <a:ext cx="2095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1">
                <a:solidFill>
                  <a:srgbClr val="1D2433"/>
                </a:solidFill>
                <a:latin typeface="Helvetica Neue"/>
              </a:rPr>
              <a:t>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6650" y="4699000"/>
            <a:ext cx="2095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i="0" b="0">
                <a:solidFill>
                  <a:srgbClr val="5F687A"/>
                </a:solidFill>
                <a:latin typeface="Helvetica Neue"/>
              </a:rPr>
              <a:t>by £ at stake, deadline,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9500" y="3048000"/>
            <a:ext cx="250825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5400" y="3238500"/>
            <a:ext cx="1905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</a:pPr>
            <a:r>
              <a:rPr sz="5400" i="0" b="0">
                <a:solidFill>
                  <a:srgbClr val="2F6DB5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400" y="4191000"/>
            <a:ext cx="2095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1">
                <a:solidFill>
                  <a:srgbClr val="1D2433"/>
                </a:solidFill>
                <a:latin typeface="Helvetica Neue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400" y="4699000"/>
            <a:ext cx="2095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i="0" b="0">
                <a:solidFill>
                  <a:srgbClr val="5F687A"/>
                </a:solidFill>
                <a:latin typeface="Helvetica Neue"/>
              </a:rPr>
              <a:t>agents plan, draft,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8250" y="3048000"/>
            <a:ext cx="2508250" cy="241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4150" y="3238500"/>
            <a:ext cx="1905000" cy="69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</a:pPr>
            <a:r>
              <a:rPr sz="5400" i="0" b="0">
                <a:solidFill>
                  <a:srgbClr val="2F6DB5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4150" y="4191000"/>
            <a:ext cx="2095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1">
                <a:solidFill>
                  <a:srgbClr val="1D2433"/>
                </a:solidFill>
                <a:latin typeface="Helvetica Neue"/>
              </a:rPr>
              <a:t>Approve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4150" y="4699000"/>
            <a:ext cx="20955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i="0" b="0">
                <a:solidFill>
                  <a:srgbClr val="5F687A"/>
                </a:solidFill>
                <a:latin typeface="Helvetica Neue"/>
              </a:rPr>
              <a:t>guard checks, then it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JUDGING CRITERIA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06500"/>
            <a:ext cx="698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0">
                <a:solidFill>
                  <a:srgbClr val="5F687A"/>
                </a:solidFill>
                <a:latin typeface="Helvetica Neue"/>
              </a:rPr>
              <a:t>Technical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79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</a:pPr>
            <a:r>
              <a:rPr sz="5200" i="0" b="0">
                <a:solidFill>
                  <a:srgbClr val="1D2433"/>
                </a:solidFill>
                <a:latin typeface="Georgia"/>
              </a:rPr>
              <a:t>Real stack, real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500" y="40005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LangChain Deep Agents: orchestrator + 3 subagents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60375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79425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479425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Seapoint MCP · live UK + IE sandbox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5397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55880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500" y="55880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assistant-ui generative UI + typed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JUDGING CRITERIA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06500"/>
            <a:ext cx="698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0">
                <a:solidFill>
                  <a:srgbClr val="5F687A"/>
                </a:solidFill>
                <a:latin typeface="Helvetica Neue"/>
              </a:rPr>
              <a:t>Product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79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</a:pPr>
            <a:r>
              <a:rPr sz="5200" i="0" b="0">
                <a:solidFill>
                  <a:srgbClr val="1D2433"/>
                </a:solidFill>
                <a:latin typeface="Georgia"/>
              </a:rPr>
              <a:t>All 8 problem groups, one inbox.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500" y="40005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OOUX → journey → flows, before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60375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79425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479425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One decision per card, ranked by £ and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5397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55880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500" y="55880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Seapoint's own finance skills built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JUDGING CRITERIA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06500"/>
            <a:ext cx="698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0">
                <a:solidFill>
                  <a:srgbClr val="5F687A"/>
                </a:solidFill>
                <a:latin typeface="Helvetica Neue"/>
              </a:rPr>
              <a:t>Agent 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79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</a:pPr>
            <a:r>
              <a:rPr sz="5200" i="0" b="0">
                <a:solidFill>
                  <a:srgbClr val="1D2433"/>
                </a:solidFill>
                <a:latin typeface="Georgia"/>
              </a:rPr>
              <a:t>It does the work. You decide.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500" y="40005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Sweeps the books and ranks 20 cards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60375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79425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479425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Delegates to Month-end, Payables, Cash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5397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55880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500" y="55880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Drafts journals, builds reports, routes approvals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JUDGING CRITERIA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06500"/>
            <a:ext cx="698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0">
                <a:solidFill>
                  <a:srgbClr val="5F687A"/>
                </a:solidFill>
                <a:latin typeface="Helvetica Neue"/>
              </a:rPr>
              <a:t>UX clarity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79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</a:pPr>
            <a:r>
              <a:rPr sz="5200" i="0" b="0">
                <a:solidFill>
                  <a:srgbClr val="1D2433"/>
                </a:solidFill>
                <a:latin typeface="Georgia"/>
              </a:rPr>
              <a:t>Less text. More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500" y="40005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Live agent tree: Running · Needs you ·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60375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79425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479425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Answers arrive as artifacts, not paragraphs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5397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55880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500" y="55880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One button per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JUDGING CRITERIA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06500"/>
            <a:ext cx="698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0">
                <a:solidFill>
                  <a:srgbClr val="5F687A"/>
                </a:solidFill>
                <a:latin typeface="Helvetica Neue"/>
              </a:rPr>
              <a:t>Real-world applicability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79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</a:pPr>
            <a:r>
              <a:rPr sz="5200" i="0" b="0">
                <a:solidFill>
                  <a:srgbClr val="1D2433"/>
                </a:solidFill>
                <a:latin typeface="Georgia"/>
              </a:rPr>
              <a:t>Found real money on day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500" y="40005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£21,800 Snowflake invoice paid twice - held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60375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79425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479425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VAT mismatch and wrong-country supplier flagged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5397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55880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500" y="55880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£2.58M cash · 19.8 months runway, from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_so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8890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i="0" b="1">
                <a:solidFill>
                  <a:srgbClr val="2F6DB5"/>
                </a:solidFill>
                <a:latin typeface="Helvetica Neue"/>
              </a:rPr>
              <a:t>JUDGING CRITERIA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206500"/>
            <a:ext cx="698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0" b="0">
                <a:solidFill>
                  <a:srgbClr val="5F687A"/>
                </a:solidFill>
                <a:latin typeface="Helvetica Neue"/>
              </a:rPr>
              <a:t>Safety and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651000"/>
            <a:ext cx="10795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00"/>
              </a:spcAft>
            </a:pPr>
            <a:r>
              <a:rPr sz="5200" i="0" b="0">
                <a:solidFill>
                  <a:srgbClr val="1D2433"/>
                </a:solidFill>
                <a:latin typeface="Georgia"/>
              </a:rPr>
              <a:t>Rules in code, not in the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8100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0500" y="40005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Every money move waits for a human Approve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460375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79425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500" y="479425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£25k / £150k limits · second approver · £250k buffer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5397500"/>
            <a:ext cx="10668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6000" y="5588000"/>
            <a:ext cx="508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2F6DB5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500" y="5588000"/>
            <a:ext cx="965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400" i="0" b="0">
                <a:solidFill>
                  <a:srgbClr val="1D2433"/>
                </a:solidFill>
                <a:latin typeface="Helvetica Neue"/>
              </a:rPr>
              <a:t>Full audit log · undo for bookkeeping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286500"/>
            <a:ext cx="5715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Clearday  ·  FinOps Hackathon London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95000" y="6286500"/>
            <a:ext cx="76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</a:pPr>
            <a:r>
              <a:rPr sz="1300" i="0" b="0">
                <a:solidFill>
                  <a:srgbClr val="5F687A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101600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00"/>
              </a:spcAft>
            </a:pPr>
            <a:r>
              <a:rPr sz="7600" i="0" b="0">
                <a:solidFill>
                  <a:srgbClr val="FFFFFF"/>
                </a:solidFill>
                <a:latin typeface="Georgia"/>
              </a:rPr>
              <a:t>Calm books.</a:t>
            </a:r>
          </a:p>
          <a:p>
            <a:pPr>
              <a:spcAft>
                <a:spcPts val="3800"/>
              </a:spcAft>
            </a:pPr>
            <a:r>
              <a:rPr sz="7600" i="0" b="0">
                <a:solidFill>
                  <a:srgbClr val="FFFFFF"/>
                </a:solidFill>
                <a:latin typeface="Georgia"/>
              </a:rPr>
              <a:t>Clear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4191000"/>
            <a:ext cx="889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3000" i="1" b="0">
                <a:solidFill>
                  <a:srgbClr val="FFFFFF"/>
                </a:solidFill>
                <a:latin typeface="Georgia"/>
              </a:rPr>
              <a:t>Clearday · built solo in one day on Seapoint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5715000"/>
            <a:ext cx="7620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i="0" b="0">
                <a:solidFill>
                  <a:srgbClr val="FFFFFF"/>
                </a:solidFill>
                <a:latin typeface="Helvetica Neue"/>
              </a:rPr>
              <a:t>github.com/Dinesh-Sunny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